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000000"/>
          </p15:clr>
        </p15:guide>
        <p15:guide id="2" pos="10206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ybbJSiCocG0EUyLRlq0exv8s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277" y="-610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106c98961_0_1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7106c9896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06800" y="514350"/>
            <a:ext cx="1930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 rot="5400000">
            <a:off x="28390057" y="9451182"/>
            <a:ext cx="27649487" cy="11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 rot="5400000">
            <a:off x="5631657" y="-1813718"/>
            <a:ext cx="27649487" cy="338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1620837" y="1728787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 rot="5400000">
            <a:off x="1945481" y="9757568"/>
            <a:ext cx="28513087" cy="2916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471863" y="2160588"/>
            <a:ext cx="16257587" cy="7561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2"/>
          </p:nvPr>
        </p:nvSpPr>
        <p:spPr>
          <a:xfrm>
            <a:off x="21429663" y="4665663"/>
            <a:ext cx="25517475" cy="23028275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471863" y="9721850"/>
            <a:ext cx="16257587" cy="18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471863" y="2160588"/>
            <a:ext cx="16257587" cy="7561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21429663" y="4665663"/>
            <a:ext cx="25517475" cy="2302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3471863" y="9721850"/>
            <a:ext cx="16257587" cy="18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620837" y="1728787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471863" y="1725613"/>
            <a:ext cx="43475275" cy="626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3471863" y="7943850"/>
            <a:ext cx="21324887" cy="389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3471863" y="11836400"/>
            <a:ext cx="21324887" cy="1741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3"/>
          </p:nvPr>
        </p:nvSpPr>
        <p:spPr>
          <a:xfrm>
            <a:off x="25517475" y="7943850"/>
            <a:ext cx="21429663" cy="389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4"/>
          </p:nvPr>
        </p:nvSpPr>
        <p:spPr>
          <a:xfrm>
            <a:off x="25517475" y="11836400"/>
            <a:ext cx="21429663" cy="1741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1620837" y="1728787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2520950" y="7561263"/>
            <a:ext cx="22606000" cy="2138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25279350" y="7561263"/>
            <a:ext cx="22606000" cy="2138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3438525" y="8078788"/>
            <a:ext cx="43476863" cy="1347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38525" y="21685250"/>
            <a:ext cx="43476863" cy="708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620837" y="1728787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1620837" y="10082212"/>
            <a:ext cx="29162375" cy="2851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ctrTitle"/>
          </p:nvPr>
        </p:nvSpPr>
        <p:spPr>
          <a:xfrm>
            <a:off x="6300788" y="5303838"/>
            <a:ext cx="37804725" cy="1128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6300788" y="17019588"/>
            <a:ext cx="37804725" cy="7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20837" y="1728787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20837" y="10082212"/>
            <a:ext cx="29162375" cy="2851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457200" marR="0" lvl="0" indent="-1282700" algn="l" rtl="0">
              <a:lnSpc>
                <a:spcPct val="100000"/>
              </a:lnSpc>
              <a:spcBef>
                <a:spcPts val="3320"/>
              </a:spcBef>
              <a:spcAft>
                <a:spcPts val="0"/>
              </a:spcAft>
              <a:buClr>
                <a:schemeClr val="dk1"/>
              </a:buClr>
              <a:buSzPts val="16600"/>
              <a:buFont typeface="Arial"/>
              <a:buChar char="•"/>
              <a:defRPr sz="16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14935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chemeClr val="dk1"/>
              </a:buClr>
              <a:buSzPts val="14500"/>
              <a:buFont typeface="Arial"/>
              <a:buChar char="–"/>
              <a:defRPr sz="1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1016000" algn="l" rtl="0">
              <a:lnSpc>
                <a:spcPct val="100000"/>
              </a:lnSpc>
              <a:spcBef>
                <a:spcPts val="2480"/>
              </a:spcBef>
              <a:spcAft>
                <a:spcPts val="0"/>
              </a:spcAft>
              <a:buClr>
                <a:schemeClr val="dk1"/>
              </a:buClr>
              <a:buSzPts val="12400"/>
              <a:buFont typeface="Arial"/>
              <a:buChar char="•"/>
              <a:defRPr sz="1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89000" algn="l" rtl="0">
              <a:lnSpc>
                <a:spcPct val="100000"/>
              </a:lnSpc>
              <a:spcBef>
                <a:spcPts val="208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Char char="–"/>
              <a:defRPr sz="10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89000" algn="l" rtl="0">
              <a:lnSpc>
                <a:spcPct val="100000"/>
              </a:lnSpc>
              <a:spcBef>
                <a:spcPts val="208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Arial"/>
              <a:buChar char="»"/>
              <a:defRPr sz="10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208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23537" y="39344600"/>
            <a:ext cx="7559675" cy="300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3200" tIns="236600" rIns="473200" bIns="2366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7106c98961_0_150" title="WhatsApp Image 2026-06-11 at 14.30.0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" y="0"/>
            <a:ext cx="32404048" cy="61567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7106c98961_0_150"/>
          <p:cNvSpPr txBox="1"/>
          <p:nvPr/>
        </p:nvSpPr>
        <p:spPr>
          <a:xfrm>
            <a:off x="7433113" y="8319775"/>
            <a:ext cx="17537722" cy="100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50" tIns="41475" rIns="82950" bIns="414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6000"/>
              <a:buFont typeface="Calibri"/>
              <a:buNone/>
            </a:pPr>
            <a:r>
              <a:rPr lang="en-US" sz="6000" u="sng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Rennan Furlaneto Collado</a:t>
            </a:r>
            <a:r>
              <a:rPr lang="en-US" sz="60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Danillo Roberto Pereira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7106c98961_0_150"/>
          <p:cNvSpPr txBox="1"/>
          <p:nvPr/>
        </p:nvSpPr>
        <p:spPr>
          <a:xfrm>
            <a:off x="6070418" y="9650378"/>
            <a:ext cx="2026311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6000"/>
              <a:buFont typeface="Calibri"/>
              <a:buNone/>
            </a:pPr>
            <a:r>
              <a:rPr lang="en-US" sz="6000" b="0" i="0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Faculdade</a:t>
            </a:r>
            <a:r>
              <a:rPr lang="en-US" sz="6000" b="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6000" b="0" i="0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Ciências</a:t>
            </a:r>
            <a:r>
              <a:rPr lang="en-US" sz="6000" b="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6000" b="0" i="0" u="none" strike="noStrike" cap="none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Tecnologia</a:t>
            </a:r>
            <a:r>
              <a:rPr lang="en-US" sz="6000" b="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(FCT) – Presidente Prudente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7106c98961_0_150"/>
          <p:cNvSpPr txBox="1"/>
          <p:nvPr/>
        </p:nvSpPr>
        <p:spPr>
          <a:xfrm>
            <a:off x="871550" y="5867575"/>
            <a:ext cx="30508500" cy="24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50" tIns="41475" rIns="82950" bIns="414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0"/>
              <a:buFont typeface="Calibri"/>
              <a:buNone/>
            </a:pPr>
            <a:r>
              <a:rPr lang="en-US" sz="7000" b="1" i="0" u="none" strike="noStrike" cap="none" dirty="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INVESTIGAÇÃO DE BASES DE ELEMENTOS FINITOS NO ALGORITMO </a:t>
            </a:r>
            <a:r>
              <a:rPr lang="en-US" sz="7000" b="1" dirty="0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rPr>
              <a:t>FEMA: ANÁLISE DE EFICIÊNCIA E CAPACIDADE DE GENERALIZAÇÃO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7106c98961_0_150"/>
          <p:cNvSpPr txBox="1"/>
          <p:nvPr/>
        </p:nvSpPr>
        <p:spPr>
          <a:xfrm>
            <a:off x="-49252" y="11943704"/>
            <a:ext cx="30508500" cy="21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50" tIns="41475" rIns="82950" bIns="41475" anchor="t" anchorCtr="0">
            <a:noAutofit/>
          </a:bodyPr>
          <a:lstStyle/>
          <a:p>
            <a:pPr lvl="0" algn="just">
              <a:buClr>
                <a:schemeClr val="dk2"/>
              </a:buClr>
              <a:buSzPts val="6000"/>
            </a:pPr>
            <a:endParaRPr sz="6000" b="1" i="0" u="none" strike="noStrike" cap="none" dirty="0">
              <a:solidFill>
                <a:srgbClr val="5F5F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7106c98961_0_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-50" y="41008682"/>
            <a:ext cx="32404050" cy="2606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g37106c98961_0_150"/>
          <p:cNvGrpSpPr/>
          <p:nvPr/>
        </p:nvGrpSpPr>
        <p:grpSpPr>
          <a:xfrm>
            <a:off x="27229866" y="39237040"/>
            <a:ext cx="4674547" cy="1771635"/>
            <a:chOff x="19927978" y="25549325"/>
            <a:chExt cx="6742460" cy="1328959"/>
          </a:xfrm>
        </p:grpSpPr>
        <p:pic>
          <p:nvPicPr>
            <p:cNvPr id="92" name="Google Shape;92;g37106c98961_0_150" descr="barra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927978" y="25549325"/>
              <a:ext cx="6742460" cy="13289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g37106c98961_0_150"/>
            <p:cNvSpPr txBox="1"/>
            <p:nvPr/>
          </p:nvSpPr>
          <p:spPr>
            <a:xfrm>
              <a:off x="20355307" y="26035312"/>
              <a:ext cx="5887799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600"/>
                <a:buFont typeface="Calibri"/>
                <a:buNone/>
              </a:pPr>
              <a:r>
                <a:rPr lang="en-US" sz="46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FAPESP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" name="Google Shape;94;g37106c98961_0_1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810600" y="41727038"/>
            <a:ext cx="4967250" cy="82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7106c98961_0_1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841356" y="41639663"/>
            <a:ext cx="3235784" cy="9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7106c98961_0_1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326900" y="41592888"/>
            <a:ext cx="3965401" cy="10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D3E4B07E-ACE7-E058-7719-DC711E2CD67B}"/>
              </a:ext>
            </a:extLst>
          </p:cNvPr>
          <p:cNvSpPr/>
          <p:nvPr/>
        </p:nvSpPr>
        <p:spPr>
          <a:xfrm>
            <a:off x="795906" y="10955861"/>
            <a:ext cx="14919840" cy="5801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</a:t>
            </a: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máquina tem sido amplamente aplicado em problemas de classificação e regressão, porém o desempenho dos modelos depende diretamente das estratégias matemáticas utilizadas em sua construção. o finite element machine (fema) é um algoritmo baseado no método dos elementos finitos que utiliza funções de base para realizar a interpolação entre dados, sendo seu comportamento influenciado pelas propriedades dessas funções.</a:t>
            </a:r>
            <a:endParaRPr lang="en-US" sz="4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C7FCAB-49FF-1EFF-271E-BF5013D9784D}"/>
              </a:ext>
            </a:extLst>
          </p:cNvPr>
          <p:cNvSpPr/>
          <p:nvPr/>
        </p:nvSpPr>
        <p:spPr>
          <a:xfrm>
            <a:off x="871550" y="18082932"/>
            <a:ext cx="14919840" cy="3867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OBJETIVOS:</a:t>
            </a: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diferentes funções de base aplicadas ao fema, avaliando seus impactos no desempenho preditivo do algoritmo em diferentes cenários de classificação, e verificar, por meio de análise estatística, se as diferenças observadas entre as bases são estatisticamente significativas.</a:t>
            </a:r>
            <a:endParaRPr lang="en-US" sz="4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8D9637E-F53A-F630-7760-899DA82E3A21}"/>
              </a:ext>
            </a:extLst>
          </p:cNvPr>
          <p:cNvSpPr/>
          <p:nvPr/>
        </p:nvSpPr>
        <p:spPr>
          <a:xfrm>
            <a:off x="795906" y="23127868"/>
            <a:ext cx="1491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6633F16-CFA5-2096-C3DF-A5707BE3AB36}"/>
              </a:ext>
            </a:extLst>
          </p:cNvPr>
          <p:cNvSpPr/>
          <p:nvPr/>
        </p:nvSpPr>
        <p:spPr>
          <a:xfrm>
            <a:off x="871550" y="22397470"/>
            <a:ext cx="14919840" cy="9395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 MÉTODOS:</a:t>
            </a: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avaliadas cinco bases de interpolação do fema: shepard, wendland c2, laplaciana, inverse multiquadratic e radial, nos conjuntos breast cancer, digits e iris (scikit-learn), escolhidos por diferirem em dimensionalidade, número de classes e tamanho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amostral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400" dirty="0"/>
          </a:p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base, o tuning de hiperparâmetros (busca em grade) selecionou a configuração com maior f1-score, executada 30 vezes (10 folds × 3 repetições), avaliando-se acurácia, acurácia balanceada e f1-score.</a:t>
            </a:r>
            <a:endParaRPr lang="en-US" sz="4400" dirty="0"/>
          </a:p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estatística seguiu demšar (2006): teste de friedman, post-hoc de wilcoxon pareado, correção de holm e tamanho de efeito rank-biserial.</a:t>
            </a:r>
            <a:endParaRPr lang="en-US" sz="4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7B54AFD-BFBD-039A-DBB6-074CC5098D9F}"/>
              </a:ext>
            </a:extLst>
          </p:cNvPr>
          <p:cNvSpPr/>
          <p:nvPr/>
        </p:nvSpPr>
        <p:spPr>
          <a:xfrm>
            <a:off x="920628" y="32041056"/>
            <a:ext cx="14919840" cy="892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friedman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indicou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diferença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significativa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entre as bases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breast cancer (p &gt; 0,93) nem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iris (p = 0,5169),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nenhuma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digits,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foi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significativo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nas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três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métricas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 = 0,0035; 0,0212; 0,0014); no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pós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-hoc com holm,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nenhum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foi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significativo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acurácia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acurácia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balanceada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mas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shepard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inverse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multiquadratic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diferiram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radial no f1-score (p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ajustado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0,02977; r = 0,934) —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diferença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pequena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magnitude,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porém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consistente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entre </a:t>
            </a:r>
            <a:r>
              <a:rPr lang="en-US" sz="44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folds.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4400" b="1" dirty="0">
                <a:solidFill>
                  <a:srgbClr val="0B2F5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9394A502-BCBA-F339-E51E-91CEE49E4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633326"/>
              </p:ext>
            </p:extLst>
          </p:nvPr>
        </p:nvGraphicFramePr>
        <p:xfrm>
          <a:off x="16264386" y="11949632"/>
          <a:ext cx="14919840" cy="6596260"/>
        </p:xfrm>
        <a:graphic>
          <a:graphicData uri="http://schemas.openxmlformats.org/drawingml/2006/table">
            <a:tbl>
              <a:tblPr/>
              <a:tblGrid>
                <a:gridCol w="1825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4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3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/ Hiperparâmetros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Accuracy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u="sng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r>
                        <a:rPr lang="en-US" sz="1600" b="0" u="sng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600" b="1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Shepard (k=20, z=4.0)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 ± 2.54%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95.42 ± 3.24%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97.28 ± 1.93%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Wendland C2 (k=15, h=5.0)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96.63 ± 2.86%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 ± 3.47%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97.38 ± 2.21%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(k=20, ε=1.0)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 ± 2.17%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95.35 ± 2.74%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97.20 ± 1.67%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Multiq. (k=5, c=0.01)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 ± 2.53%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95.72 ± 3.04%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97.17 ± 1.96%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(k=5, z=4.0)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 ± 2.53%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95.72 ± 3.04%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97.17 ± 1.96%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Shepard (k=5, z=1.0)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 ± 1.12%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 ± 1.14%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98.05 ± 1.15%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Wendland C2 (k=5, h=5.0)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97.80 ± 1.12%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97.80 ± 1.15%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97.79 ± 1.15%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(k=5, ε=0.1)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 ± 1.16%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97.92 ± 1.18%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97.91 ± 1.19%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Multiq. (k=5, c=0.01)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 ± 1.12%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 ± 1.14%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98.05 ± 1.15%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(k=5, z=0.05)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97.77 ± 1.12%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97.76 ± 1.14%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97.75 ± 1.14%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Shepard (k=26, z=2.169)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 ± 4.84%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 ± 4.57%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96.07 ± 4.91%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Wendland C2 (k=4, h=3.574)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 ± 6.63%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95.56 ± 6.59%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95.40 ± 6.69%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(k=15, ε=3.139)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95.12 ± 7.15%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95.28 ± 7.04%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95.09 ± 7.15%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 Multiq. (k=5, c=0.1023)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95.82 ± 6.57%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 ± 6.59%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95.71 ± 6.67%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53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(k=4, z=0.6975)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 ± 6.63%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95.56 ± 6.59%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u="sng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95.40 ± 6.69%</a:t>
                      </a:r>
                      <a:endParaRPr lang="en-US" sz="1600" u="sng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9" name="Text 11">
            <a:extLst>
              <a:ext uri="{FF2B5EF4-FFF2-40B4-BE49-F238E27FC236}">
                <a16:creationId xmlns:a16="http://schemas.microsoft.com/office/drawing/2014/main" id="{450AA52F-393F-49E8-1F52-D45FD9D5AEC4}"/>
              </a:ext>
            </a:extLst>
          </p:cNvPr>
          <p:cNvSpPr/>
          <p:nvPr/>
        </p:nvSpPr>
        <p:spPr>
          <a:xfrm>
            <a:off x="16264386" y="18597322"/>
            <a:ext cx="14919840" cy="3867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resultados indicam que a influência da função de base não foi uniforme entre os datasets, sendo detectável apenas em digits — sugerindo, como hipótese a investigar, que essa sensibilidade pode depender de características do conjunto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</a:t>
            </a:r>
            <a:r>
              <a:rPr lang="en-US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endParaRPr lang="en-US" sz="4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endParaRPr lang="en-US" sz="4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83F2576-29BA-FE38-14BE-B9B6296F9556}"/>
              </a:ext>
            </a:extLst>
          </p:cNvPr>
          <p:cNvSpPr/>
          <p:nvPr/>
        </p:nvSpPr>
        <p:spPr>
          <a:xfrm>
            <a:off x="16125800" y="22424268"/>
            <a:ext cx="14919840" cy="61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</a:t>
            </a: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pt-BR" sz="4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resultados sugerem que a escolha da função de base do </a:t>
            </a:r>
            <a:r>
              <a:rPr lang="pt-BR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fema</a:t>
            </a:r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não é estatisticamente detectável em todos os cenários, mas pode influenciar o desempenho em contextos específicos, como em </a:t>
            </a:r>
            <a:r>
              <a:rPr lang="pt-BR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digits</a:t>
            </a:r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(f1-score). isso indica que essa influência depende do conjunto de dados, sem evidência de uma função universalmente superior. por serem resultados iniciais, não devem ser generalizados; a pesquisa deve ampliar a diversidade de </a:t>
            </a:r>
            <a:r>
              <a:rPr lang="pt-BR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avaliados.</a:t>
            </a:r>
            <a:r>
              <a:rPr lang="en-US" sz="4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30C2D8D0-D41D-AA42-2DFC-A757C5AB004E}"/>
              </a:ext>
            </a:extLst>
          </p:cNvPr>
          <p:cNvSpPr/>
          <p:nvPr/>
        </p:nvSpPr>
        <p:spPr>
          <a:xfrm>
            <a:off x="16264386" y="31069446"/>
            <a:ext cx="1491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</a:t>
            </a:r>
            <a:endParaRPr lang="en-US" sz="6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1AD1BB8C-491C-C652-F005-F18A3E4870A7}"/>
              </a:ext>
            </a:extLst>
          </p:cNvPr>
          <p:cNvSpPr/>
          <p:nvPr/>
        </p:nvSpPr>
        <p:spPr>
          <a:xfrm>
            <a:off x="16264386" y="31938129"/>
            <a:ext cx="14919840" cy="5554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PEREIRA, Danilo R. et al. FEMa: a finite element machine for fast learning. Neural Computing and Applications, v. 32, n. 10, p. 6393-6404, 2019.
DEMŠAR, J. Statistical comparisons of classifiers over multiple data sets. Journal of Machine Learning Research, v. 7, p. 1–30, 2006.
SHEPARD, Donald. A two-dimensional interpolation function for irregularly-spaced data. In: </a:t>
            </a:r>
            <a:r>
              <a:rPr lang="en-US" sz="4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1968 23rd ACM National Conference</a:t>
            </a:r>
            <a:r>
              <a:rPr lang="en-US" sz="4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New York: ACM, 1968. p. 517–524.</a:t>
            </a:r>
            <a:endParaRPr lang="en-US" sz="4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5503401-6A23-B9BD-D2D4-4F69D44530D8}"/>
              </a:ext>
            </a:extLst>
          </p:cNvPr>
          <p:cNvSpPr/>
          <p:nvPr/>
        </p:nvSpPr>
        <p:spPr>
          <a:xfrm>
            <a:off x="16188742" y="11086397"/>
            <a:ext cx="14919840" cy="3867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1. </a:t>
            </a:r>
            <a:r>
              <a:rPr lang="en-US" sz="4400" b="1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44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Bases de </a:t>
            </a:r>
            <a:r>
              <a:rPr lang="en-US" sz="4400" b="1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Interpolação</a:t>
            </a:r>
            <a:endParaRPr lang="en-US" sz="44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EAB61E6D-839A-1151-E714-7061AD1629D7}"/>
              </a:ext>
            </a:extLst>
          </p:cNvPr>
          <p:cNvSpPr/>
          <p:nvPr/>
        </p:nvSpPr>
        <p:spPr>
          <a:xfrm>
            <a:off x="16125800" y="28764415"/>
            <a:ext cx="1491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AGRADECIMENTOS: 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FAPESP, </a:t>
            </a:r>
            <a:r>
              <a:rPr lang="en-US" sz="4400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4400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4400" dirty="0" err="1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4400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n° 2026/07025-9).</a:t>
            </a:r>
            <a:r>
              <a:rPr lang="en-US" sz="6000" b="1" dirty="0">
                <a:solidFill>
                  <a:srgbClr val="0B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959</Words>
  <Application>Microsoft Office PowerPoint</Application>
  <PresentationFormat>Personalizar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Alessandro</dc:creator>
  <cp:lastModifiedBy>Rennan Furlaneto Collado</cp:lastModifiedBy>
  <cp:revision>3</cp:revision>
  <dcterms:created xsi:type="dcterms:W3CDTF">2021-09-08T13:51:19Z</dcterms:created>
  <dcterms:modified xsi:type="dcterms:W3CDTF">2026-08-10T19:36:46Z</dcterms:modified>
</cp:coreProperties>
</file>